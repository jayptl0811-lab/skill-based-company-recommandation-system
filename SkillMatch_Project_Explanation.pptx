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98280" y="-1234440"/>
            <a:ext cx="4389120" cy="4389120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206240"/>
            <a:ext cx="1828800" cy="1828800"/>
          </a:xfrm>
          <a:prstGeom prst="ellipse">
            <a:avLst/>
          </a:prstGeom>
          <a:solidFill>
            <a:srgbClr val="2B7354"/>
          </a:solidFill>
          <a:ln>
            <a:solidFill>
              <a:srgbClr val="2B7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56448" y="3429000"/>
            <a:ext cx="749808" cy="749808"/>
          </a:xfrm>
          <a:prstGeom prst="ellipse">
            <a:avLst/>
          </a:prstGeom>
          <a:solidFill>
            <a:srgbClr val="E8B65C"/>
          </a:solidFill>
          <a:ln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384048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E7D2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758952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5400" b="1">
                <a:solidFill>
                  <a:srgbClr val="FFFFFF"/>
                </a:solidFill>
                <a:latin typeface="Aptos"/>
              </a:rPr>
              <a:t>SkillMatch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43200"/>
            <a:ext cx="6858000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C9E7D2"/>
                </a:solidFill>
                <a:latin typeface="Aptos"/>
              </a:rPr>
              <a:t>Skill-based job &amp; company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C9E7D2"/>
                </a:solidFill>
                <a:latin typeface="Aptos"/>
              </a:rPr>
              <a:t>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603504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full-stack web application that helps people discover roles aligned with their skills, experience, and career 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1508760" cy="310896"/>
          </a:xfrm>
          <a:prstGeom prst="roundRect">
            <a:avLst/>
          </a:prstGeom>
          <a:solidFill>
            <a:srgbClr val="2D5944"/>
          </a:solidFill>
          <a:ln w="12700">
            <a:solidFill>
              <a:srgbClr val="2D5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038344"/>
            <a:ext cx="139903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5029200"/>
            <a:ext cx="1508760" cy="310896"/>
          </a:xfrm>
          <a:prstGeom prst="roundRect">
            <a:avLst/>
          </a:prstGeom>
          <a:solidFill>
            <a:srgbClr val="2D5944"/>
          </a:solidFill>
          <a:ln w="12700">
            <a:solidFill>
              <a:srgbClr val="2D5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5038344"/>
            <a:ext cx="139903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DISCOVER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5029200"/>
            <a:ext cx="1691640" cy="310896"/>
          </a:xfrm>
          <a:prstGeom prst="roundRect">
            <a:avLst/>
          </a:prstGeom>
          <a:solidFill>
            <a:srgbClr val="2D5944"/>
          </a:solidFill>
          <a:ln w="12700">
            <a:solidFill>
              <a:srgbClr val="2D5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5038344"/>
            <a:ext cx="1581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GET MATCHED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5486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D9CA"/>
                </a:solidFill>
                <a:latin typeface="Aptos"/>
              </a:rPr>
              <a:t>TERM PROJECT  •  SOFTWARE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331720"/>
            <a:ext cx="26060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Find work</a:t>
            </a:r>
          </a:p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that fits.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Why SkillMatch is useful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24612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27631"/>
            <a:ext cx="48737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4873752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Job seekers search across many listings and company pages.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A role title alone does not show how well a candidate fits.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People need clear feedback on skills they already match and skills to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0876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508760"/>
            <a:ext cx="73152" cy="3246120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27631"/>
            <a:ext cx="48737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The 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039112"/>
            <a:ext cx="4873752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Build one place to create a career profile and explore opportunities.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Rank jobs with a transparent, configurable matching score.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65746B"/>
                </a:solidFill>
                <a:latin typeface="Aptos"/>
              </a:rPr>
              <a:t>•  Explain matches and skill gaps so users can make informed next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10808208" cy="804672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33272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7382B"/>
                </a:solidFill>
                <a:latin typeface="Aptos"/>
              </a:rPr>
              <a:t>Project outcome: useful job discovery with understandable, profile-based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Who uses SkillMatch?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Two user roles share the same opportunity catalogue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73152" cy="4160520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8737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Job seeker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4873752" cy="3520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Register and sign in securely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Build a profile with skills, experience, education, preferences, projects, and certifications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Search and filter jobs and companies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Review personalized match reasons and missing skills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Save interesting jobs and companies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444752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444752"/>
            <a:ext cx="73152" cy="416052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63624"/>
            <a:ext cx="48737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Administrator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75104"/>
            <a:ext cx="4873752" cy="3520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Manage companies and job listings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Review basic marketplace overview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Adjust relative recommendation weights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Keep catalogue data current for job seekers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Optional profile feature: upload a PDF or Word resume (up to 5 MB).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A simple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From career information to an explainable opportunity match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1261872" y="1691640"/>
            <a:ext cx="566928" cy="566928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719072"/>
            <a:ext cx="566928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83664" y="1975104"/>
            <a:ext cx="1563624" cy="0"/>
          </a:xfrm>
          <a:prstGeom prst="line">
            <a:avLst/>
          </a:prstGeom>
          <a:ln w="3810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2606040"/>
            <a:ext cx="193852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Create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37560"/>
            <a:ext cx="1645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Register and sign in</a:t>
            </a:r>
          </a:p>
        </p:txBody>
      </p:sp>
      <p:sp>
        <p:nvSpPr>
          <p:cNvPr id="13" name="Oval 12"/>
          <p:cNvSpPr/>
          <p:nvPr/>
        </p:nvSpPr>
        <p:spPr>
          <a:xfrm>
            <a:off x="3575304" y="1691640"/>
            <a:ext cx="566928" cy="566928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719072"/>
            <a:ext cx="566928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97096" y="1975104"/>
            <a:ext cx="1563624" cy="0"/>
          </a:xfrm>
          <a:prstGeom prst="line">
            <a:avLst/>
          </a:prstGeom>
          <a:ln w="3810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71800" y="2606040"/>
            <a:ext cx="193852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283464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Build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3337560"/>
            <a:ext cx="1645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Add skills, experience &amp; preferences</a:t>
            </a:r>
          </a:p>
        </p:txBody>
      </p:sp>
      <p:sp>
        <p:nvSpPr>
          <p:cNvPr id="19" name="Oval 18"/>
          <p:cNvSpPr/>
          <p:nvPr/>
        </p:nvSpPr>
        <p:spPr>
          <a:xfrm>
            <a:off x="5888736" y="1691640"/>
            <a:ext cx="566928" cy="566928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1719072"/>
            <a:ext cx="566928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10528" y="1975104"/>
            <a:ext cx="1563624" cy="0"/>
          </a:xfrm>
          <a:prstGeom prst="line">
            <a:avLst/>
          </a:prstGeom>
          <a:ln w="3810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85232" y="2606040"/>
            <a:ext cx="193852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4" y="283464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Explore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337560"/>
            <a:ext cx="1645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Search jobs and companies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1691640"/>
            <a:ext cx="566928" cy="566928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1719072"/>
            <a:ext cx="566928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3960" y="1975104"/>
            <a:ext cx="1563624" cy="0"/>
          </a:xfrm>
          <a:prstGeom prst="line">
            <a:avLst/>
          </a:prstGeom>
          <a:ln w="3810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98664" y="2606040"/>
            <a:ext cx="193852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283464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Understand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8" y="3337560"/>
            <a:ext cx="1645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See match score, reasons &amp; skill gaps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0" y="1691640"/>
            <a:ext cx="566928" cy="566928"/>
          </a:xfrm>
          <a:prstGeom prst="ellipse">
            <a:avLst/>
          </a:prstGeom>
          <a:solidFill>
            <a:srgbClr val="E8B65C"/>
          </a:solidFill>
          <a:ln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1719072"/>
            <a:ext cx="566928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12096" y="2606040"/>
            <a:ext cx="193852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30968" y="283464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Save &amp;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337560"/>
            <a:ext cx="1645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Keep opportunities for later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5120640"/>
            <a:ext cx="10131552" cy="658368"/>
          </a:xfrm>
          <a:prstGeom prst="roundRect">
            <a:avLst/>
          </a:prstGeom>
          <a:solidFill>
            <a:srgbClr val="EDF3EE"/>
          </a:solidFill>
          <a:ln w="12700">
            <a:solidFill>
              <a:srgbClr val="ED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230368"/>
            <a:ext cx="97383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E5B43"/>
                </a:solidFill>
                <a:latin typeface="Aptos"/>
              </a:rPr>
              <a:t>Profile data is used to personalize matching; users can also browse and apply their own filters.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How recommendations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A weighted score balances several candidate-to-role factors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3246120" cy="384048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9080" y="1600200"/>
            <a:ext cx="973836" cy="384048"/>
          </a:xfrm>
          <a:prstGeom prst="rect">
            <a:avLst/>
          </a:prstGeom>
          <a:solidFill>
            <a:srgbClr val="39785A"/>
          </a:solidFill>
          <a:ln w="12700">
            <a:solidFill>
              <a:srgbClr val="39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2916" y="1600200"/>
            <a:ext cx="649224" cy="384048"/>
          </a:xfrm>
          <a:prstGeom prst="rect">
            <a:avLst/>
          </a:prstGeom>
          <a:solidFill>
            <a:srgbClr val="619276"/>
          </a:solidFill>
          <a:ln w="12700">
            <a:solidFill>
              <a:srgbClr val="619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92140" y="1600200"/>
            <a:ext cx="649224" cy="384048"/>
          </a:xfrm>
          <a:prstGeom prst="rect">
            <a:avLst/>
          </a:prstGeom>
          <a:solidFill>
            <a:srgbClr val="7FAE8D"/>
          </a:solidFill>
          <a:ln w="12700">
            <a:solidFill>
              <a:srgbClr val="7FA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1364" y="1600200"/>
            <a:ext cx="324612" cy="384048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5976" y="1600200"/>
            <a:ext cx="324612" cy="384048"/>
          </a:xfrm>
          <a:prstGeom prst="rect">
            <a:avLst/>
          </a:prstGeom>
          <a:solidFill>
            <a:srgbClr val="D6A84F"/>
          </a:solidFill>
          <a:ln w="12700">
            <a:solidFill>
              <a:srgbClr val="D6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0588" y="1600200"/>
            <a:ext cx="324612" cy="384048"/>
          </a:xfrm>
          <a:prstGeom prst="rect">
            <a:avLst/>
          </a:prstGeom>
          <a:solidFill>
            <a:srgbClr val="B8CCBD"/>
          </a:solidFill>
          <a:ln w="12700">
            <a:solidFill>
              <a:srgbClr val="B8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386584"/>
            <a:ext cx="164592" cy="164592"/>
          </a:xfrm>
          <a:prstGeom prst="ellipse">
            <a:avLst/>
          </a:prstGeom>
          <a:solidFill>
            <a:srgbClr val="1E5B43"/>
          </a:solidFill>
          <a:ln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331720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Required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31720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50%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0" y="2386584"/>
            <a:ext cx="164592" cy="164592"/>
          </a:xfrm>
          <a:prstGeom prst="ellipse">
            <a:avLst/>
          </a:prstGeom>
          <a:solidFill>
            <a:srgbClr val="39785A"/>
          </a:solidFill>
          <a:ln>
            <a:solidFill>
              <a:srgbClr val="39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31720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15%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008376"/>
            <a:ext cx="164592" cy="164592"/>
          </a:xfrm>
          <a:prstGeom prst="ellipse">
            <a:avLst/>
          </a:prstGeom>
          <a:solidFill>
            <a:srgbClr val="619276"/>
          </a:solidFill>
          <a:ln>
            <a:solidFill>
              <a:srgbClr val="619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953512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953512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10%</a:t>
            </a:r>
          </a:p>
        </p:txBody>
      </p:sp>
      <p:sp>
        <p:nvSpPr>
          <p:cNvPr id="23" name="Oval 22"/>
          <p:cNvSpPr/>
          <p:nvPr/>
        </p:nvSpPr>
        <p:spPr>
          <a:xfrm>
            <a:off x="4297680" y="3008376"/>
            <a:ext cx="164592" cy="164592"/>
          </a:xfrm>
          <a:prstGeom prst="ellipse">
            <a:avLst/>
          </a:prstGeom>
          <a:solidFill>
            <a:srgbClr val="7FAE8D"/>
          </a:solidFill>
          <a:ln>
            <a:solidFill>
              <a:srgbClr val="7FA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953512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Preferred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53512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10%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3630168"/>
            <a:ext cx="164592" cy="164592"/>
          </a:xfrm>
          <a:prstGeom prst="ellipse">
            <a:avLst/>
          </a:prstGeom>
          <a:solidFill>
            <a:srgbClr val="E8B65C"/>
          </a:solidFill>
          <a:ln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575304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Industry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575304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5%</a:t>
            </a:r>
          </a:p>
        </p:txBody>
      </p:sp>
      <p:sp>
        <p:nvSpPr>
          <p:cNvPr id="29" name="Oval 28"/>
          <p:cNvSpPr/>
          <p:nvPr/>
        </p:nvSpPr>
        <p:spPr>
          <a:xfrm>
            <a:off x="4297680" y="3630168"/>
            <a:ext cx="164592" cy="164592"/>
          </a:xfrm>
          <a:prstGeom prst="ellipse">
            <a:avLst/>
          </a:prstGeom>
          <a:solidFill>
            <a:srgbClr val="D6A84F"/>
          </a:solidFill>
          <a:ln>
            <a:solidFill>
              <a:srgbClr val="D6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575304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575304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5%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4251959"/>
            <a:ext cx="164592" cy="164592"/>
          </a:xfrm>
          <a:prstGeom prst="ellipse">
            <a:avLst/>
          </a:prstGeom>
          <a:solidFill>
            <a:srgbClr val="B8CCBD"/>
          </a:solidFill>
          <a:ln>
            <a:solidFill>
              <a:srgbClr val="B8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197096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342B"/>
                </a:solidFill>
                <a:latin typeface="Aptos"/>
              </a:rPr>
              <a:t>Certifications &amp; projects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197096"/>
            <a:ext cx="47548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481328"/>
            <a:ext cx="3657600" cy="4041648"/>
          </a:xfrm>
          <a:prstGeom prst="roundRect">
            <a:avLst/>
          </a:prstGeom>
          <a:solidFill>
            <a:srgbClr val="17382B"/>
          </a:solidFill>
          <a:ln w="12700">
            <a:solidFill>
              <a:srgbClr val="17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1810512"/>
            <a:ext cx="30632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Explainable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423160"/>
            <a:ext cx="2971800" cy="2468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4EEE7"/>
                </a:solidFill>
                <a:latin typeface="Aptos"/>
              </a:rPr>
              <a:t>For each role, SkillMatch can show: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4EEE7"/>
                </a:solidFill>
                <a:latin typeface="Aptos"/>
              </a:rPr>
              <a:t>• Overall match score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4EEE7"/>
                </a:solidFill>
                <a:latin typeface="Aptos"/>
              </a:rPr>
              <a:t>• Skills matched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4EEE7"/>
                </a:solidFill>
                <a:latin typeface="Aptos"/>
              </a:rPr>
              <a:t>• Skills still missing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4EEE7"/>
                </a:solidFill>
                <a:latin typeface="Aptos"/>
              </a:rPr>
              <a:t>• Factor scores and plain-language reasons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166360"/>
            <a:ext cx="65836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The skill factor combines required-skill coverage (85%) with text similarity (15%).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696712"/>
            <a:ext cx="3566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5746B"/>
                </a:solidFill>
                <a:latin typeface="Aptos"/>
              </a:rPr>
              <a:t>Weights are normalized and admin-adjustable.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A browser client communicates with a Python API and SQLite data store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1168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178308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E5B43"/>
                </a:solidFill>
                <a:latin typeface="Aptos"/>
              </a:rPr>
              <a:t>Web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170992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HTML · CSS · JavaScript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Dashboard &amp; discovery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645920"/>
            <a:ext cx="3429000" cy="214884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865376"/>
            <a:ext cx="28803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E5B43"/>
                </a:solidFill>
                <a:latin typeface="Aptos"/>
              </a:rPr>
              <a:t>FastAPI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404872"/>
            <a:ext cx="2697480" cy="10241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0342B"/>
                </a:solidFill>
                <a:latin typeface="Aptos"/>
              </a:rPr>
              <a:t>Authentication &amp; APIs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0342B"/>
                </a:solidFill>
                <a:latin typeface="Aptos"/>
              </a:rPr>
              <a:t>Profile and catalogue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0342B"/>
                </a:solidFill>
                <a:latin typeface="Aptos"/>
              </a:rPr>
              <a:t>Recommendation scoring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0342B"/>
                </a:solidFill>
                <a:latin typeface="Aptos"/>
              </a:rPr>
              <a:t>Admin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12848"/>
            <a:ext cx="1371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E5B43"/>
                </a:solidFill>
                <a:latin typeface="Aptos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97480"/>
            <a:ext cx="14173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Users · profiles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Jobs · companies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011680"/>
            <a:ext cx="1234440" cy="1417320"/>
          </a:xfrm>
          <a:prstGeom prst="roundRect">
            <a:avLst/>
          </a:prstGeom>
          <a:solidFill>
            <a:srgbClr val="EDF3EE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4432" y="2212848"/>
            <a:ext cx="109728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E5B43"/>
                </a:solidFill>
                <a:latin typeface="Aptos"/>
              </a:rPr>
              <a:t>Uploads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97480"/>
            <a:ext cx="10515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Validated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resumes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62072" y="2724912"/>
            <a:ext cx="813815" cy="0"/>
          </a:xfrm>
          <a:prstGeom prst="line">
            <a:avLst/>
          </a:prstGeom>
          <a:ln w="31750">
            <a:solidFill>
              <a:srgbClr val="1E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41464" y="2724912"/>
            <a:ext cx="877824" cy="0"/>
          </a:xfrm>
          <a:prstGeom prst="line">
            <a:avLst/>
          </a:prstGeom>
          <a:ln w="31750">
            <a:solidFill>
              <a:srgbClr val="1E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0" y="1920240"/>
            <a:ext cx="3621024" cy="0"/>
          </a:xfrm>
          <a:prstGeom prst="line">
            <a:avLst/>
          </a:prstGeom>
          <a:ln w="21590">
            <a:solidFill>
              <a:srgbClr val="E8B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26080" y="3154680"/>
            <a:ext cx="7132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JSON / JWT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43400"/>
            <a:ext cx="10195560" cy="841248"/>
          </a:xfrm>
          <a:prstGeom prst="roundRect">
            <a:avLst/>
          </a:prstGeom>
          <a:solidFill>
            <a:srgbClr val="17382B"/>
          </a:solidFill>
          <a:ln w="12700">
            <a:solidFill>
              <a:srgbClr val="17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489704"/>
            <a:ext cx="964692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Local development: frontend http://127.0.0.1:5500  ·  API http://127.0.0.1:8000  ·  API docs /docs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13832"/>
            <a:ext cx="101955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Backend: FastAPI + Pydantic  ·  Persistence: SQLite  ·  Recommendation logic: standalone Python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Core data and API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The application organizes candidate information and opportunity catalogue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73152" cy="3611880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Main data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828032" cy="2971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Users and authentication roles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Career profiles, skills, education, certifications, and projects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Companies, jobs, and required skills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Saved jobs/companies and recommendation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44752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44752"/>
            <a:ext cx="73152" cy="361188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Main API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4828032" cy="2971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Authentication and current-user endpoints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Profile read/update and resume upload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Job and company search with filters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Recommendations, saved items, dashboard, and admin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413248"/>
            <a:ext cx="10332720" cy="585216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0584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E5B43"/>
                </a:solidFill>
                <a:latin typeface="Aptos"/>
              </a:rPr>
              <a:t>Interactive API reference: /docs  ·  Request and response schemas are documented in OpenAPI.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Security and configuration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Protecting users and controlling project change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73152" cy="4251960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Security controls in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828032" cy="3611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Passwords hashed with scrypt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Signed JWT authentication and role-based admin access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Validated resume types and 5 MB upload limit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Input validation for API request models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CORS allow-list for frontend origins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Keep deployment secrets out of source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4475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44752"/>
            <a:ext cx="73152" cy="425196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SCM objects to 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4828032" cy="3611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Backend, recommender, and frontend source files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Database schema, dependency manifest, and safe config examples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Tests, documentation, and release notes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Change requests, defects, and review history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5746B"/>
                </a:solidFill>
                <a:latin typeface="Aptos"/>
              </a:rPr>
              <a:t>•  Protect the database, real user data, and uploaded resumes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Project plan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Estimated Critical Path Method schedule; durations are planning assumptions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Initiation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1 wk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9105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0992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2 wks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42615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61487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8152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152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7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7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2 wks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94175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1304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3308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3308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2 wks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4573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64607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8464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8464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0327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Backend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7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4 wks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9729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1616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3620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2 wks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4885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67727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8776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776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7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7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2 wks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00415" y="2587752"/>
            <a:ext cx="100585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1928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39327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7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Testing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3 wks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95197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07084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90888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90888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1656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Docs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1656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1 wk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00353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12240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42448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42448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6812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Deploy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6812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1 wk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055096" y="2587752"/>
            <a:ext cx="100584" cy="0"/>
          </a:xfrm>
          <a:prstGeom prst="line">
            <a:avLst/>
          </a:prstGeom>
          <a:ln w="20320">
            <a:solidFill>
              <a:srgbClr val="BD5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1173968" y="1920240"/>
            <a:ext cx="932688" cy="1325880"/>
          </a:xfrm>
          <a:prstGeom prst="roundRect">
            <a:avLst/>
          </a:prstGeom>
          <a:solidFill>
            <a:srgbClr val="FCE8E5"/>
          </a:solidFill>
          <a:ln w="1905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94008" y="1572768"/>
            <a:ext cx="292608" cy="292608"/>
          </a:xfrm>
          <a:prstGeom prst="ellipse">
            <a:avLst/>
          </a:prstGeom>
          <a:solidFill>
            <a:srgbClr val="BD5145"/>
          </a:solidFill>
          <a:ln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94008" y="1581912"/>
            <a:ext cx="29260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19688" y="2130552"/>
            <a:ext cx="84124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0342B"/>
                </a:solidFill>
                <a:latin typeface="Aptos"/>
              </a:rPr>
              <a:t>Closeout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19688" y="2697480"/>
            <a:ext cx="84124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D5145"/>
                </a:solidFill>
                <a:latin typeface="Aptos"/>
              </a:rPr>
              <a:t>1 wk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" y="3886200"/>
            <a:ext cx="10424160" cy="1078992"/>
          </a:xfrm>
          <a:prstGeom prst="roundRect">
            <a:avLst/>
          </a:prstGeom>
          <a:solidFill>
            <a:srgbClr val="17382B"/>
          </a:solidFill>
          <a:ln w="12700">
            <a:solidFill>
              <a:srgbClr val="17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4096512"/>
            <a:ext cx="996696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Estimated critical path: Initiation → Requirements → Design → Database → Backend → Security → Integration → Testing → Documentation → Deployment → Closeout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Parallel work: frontend development (4 weeks) and recommendation engine (3 weeks) are planned alongside backend work. Estimated total: 21 weeks.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870448"/>
            <a:ext cx="10149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5746B"/>
                </a:solidFill>
                <a:latin typeface="Aptos"/>
              </a:rPr>
              <a:t>CPM baseline from the project plan; actual delivery time can change with scope, resources, and test findings.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Monitoring progress with Earned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Example figures only — replace with actual budget, progress, and cost records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2763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5B43"/>
                </a:solidFill>
                <a:latin typeface="Aptos"/>
              </a:rPr>
              <a:t>PV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20342B"/>
                </a:solidFill>
                <a:latin typeface="Aptos"/>
              </a:rPr>
              <a:t>₹8,52,000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9572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5746B"/>
                </a:solidFill>
                <a:latin typeface="Aptos"/>
              </a:rPr>
              <a:t>Planned value by week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087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2763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5B43"/>
                </a:solidFill>
                <a:latin typeface="Aptos"/>
              </a:rPr>
              <a:t>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93852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20342B"/>
                </a:solidFill>
                <a:latin typeface="Aptos"/>
              </a:rPr>
              <a:t>₹8,10,000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39572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5746B"/>
                </a:solidFill>
                <a:latin typeface="Aptos"/>
              </a:rPr>
              <a:t>Budgeted value of work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62763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E5B43"/>
                </a:solidFill>
                <a:latin typeface="Aptos"/>
              </a:rPr>
              <a:t>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93852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20342B"/>
                </a:solidFill>
                <a:latin typeface="Aptos"/>
              </a:rPr>
              <a:t>₹8,90,000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39572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5746B"/>
                </a:solidFill>
                <a:latin typeface="Aptos"/>
              </a:rPr>
              <a:t>Actual spending by week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46120"/>
            <a:ext cx="50292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246120"/>
            <a:ext cx="73152" cy="1965960"/>
          </a:xfrm>
          <a:prstGeom prst="rect">
            <a:avLst/>
          </a:prstGeom>
          <a:solidFill>
            <a:srgbClr val="BD5145"/>
          </a:solidFill>
          <a:ln w="12700">
            <a:solidFill>
              <a:srgbClr val="BD5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64991"/>
            <a:ext cx="46451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Schedule &amp; cost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76472"/>
            <a:ext cx="464515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•  SV = EV − PV = −₹42,000  → behind schedule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•  CV = EV − AC = −₹80,000  → over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246120"/>
            <a:ext cx="50292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246120"/>
            <a:ext cx="73152" cy="196596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364991"/>
            <a:ext cx="464515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Performance indexes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776472"/>
            <a:ext cx="464515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•  SPI = EV ÷ PV = 0.95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•  CPI = EV ÷ AC = 0.91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5746B"/>
                </a:solidFill>
                <a:latin typeface="Aptos"/>
              </a:rPr>
              <a:t>•  Illustrative EAC ≈ ₹13,18,519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532120"/>
            <a:ext cx="102412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5746B"/>
                </a:solidFill>
                <a:latin typeface="Aptos"/>
              </a:rPr>
              <a:t>Interpretation: investigate schedule variance and cost efficiency; use actual time sheets, invoices, and verified task completion.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20342B"/>
                </a:solidFill>
                <a:latin typeface="Aptos"/>
              </a:rPr>
              <a:t>Validation and 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972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Where the project is today and what it delivers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BE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519672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5746B"/>
                </a:solidFill>
                <a:latin typeface="Aptos"/>
              </a:rPr>
              <a:t>SKILLMATCH  /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65746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52120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73152" cy="3520440"/>
          </a:xfrm>
          <a:prstGeom prst="rect">
            <a:avLst/>
          </a:prstGeom>
          <a:solidFill>
            <a:srgbClr val="1E5B43"/>
          </a:solidFill>
          <a:ln w="12700">
            <a:solidFill>
              <a:srgbClr val="1E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Project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828032" cy="2880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Automated tests cover auth, profiles, recommendations, search, saved items, and admin access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The current test suite was verified with 11 passing tests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Local app and API docs are available through separate frontend and backend 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44752"/>
            <a:ext cx="52120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44752"/>
            <a:ext cx="73152" cy="3520440"/>
          </a:xfrm>
          <a:prstGeom prst="rect">
            <a:avLst/>
          </a:prstGeom>
          <a:solidFill>
            <a:srgbClr val="E8B65C"/>
          </a:solidFill>
          <a:ln w="12700">
            <a:solidFill>
              <a:srgbClr val="E8B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63624"/>
            <a:ext cx="48280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0342B"/>
                </a:solidFill>
                <a:latin typeface="Aptos"/>
              </a:rPr>
              <a:t>Value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4828032" cy="2880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A unified place to explore jobs and companies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Recommendations that reveal match evidence and skill gaps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Configurable scoring and admin-managed catalogue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5746B"/>
                </a:solidFill>
                <a:latin typeface="Aptos"/>
              </a:rPr>
              <a:t>•  A clear foundation for future improvements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03520"/>
            <a:ext cx="10515600" cy="658368"/>
          </a:xfrm>
          <a:prstGeom prst="roundRect">
            <a:avLst/>
          </a:prstGeom>
          <a:solidFill>
            <a:srgbClr val="17382B"/>
          </a:solidFill>
          <a:ln w="12700">
            <a:solidFill>
              <a:srgbClr val="17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404104"/>
            <a:ext cx="101041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16752"/>
            <a:ext cx="10241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5746B"/>
                </a:solidFill>
                <a:latin typeface="Aptos"/>
              </a:rPr>
              <a:t>Demo URLs: http://127.0.0.1:5500  |  API documentation: http://127.0.0.1:8000/docs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SkillMatch Project Explanation</dc:title>
  <dc:subject>Skill-based job and company recommendation system</dc:subject>
  <dc:creator>SkillMatch Project Team</dc:creator>
  <cp:keywords>SkillMatch, recommendations, project presentation, EVA, CPM, SCM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